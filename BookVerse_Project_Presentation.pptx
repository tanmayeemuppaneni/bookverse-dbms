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0F1A2E"/>
          </a:solidFill>
          <a:ln w="3175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548640" rIns="548640"/>
          <a:lstStyle/>
          <a:p>
            <a:pPr algn="ctr">
              <a:defRPr sz="1200" b="1">
                <a:solidFill>
                  <a:srgbClr val="EBCD82"/>
                </a:solidFill>
              </a:defRPr>
            </a:pPr>
            <a:r>
              <a:t>KLH BACHUPALLY CAMPUS · CSE DEPARTMENT · PBL 2026-27</a:t>
            </a:r>
            <a:br/>
            <a:r>
              <a:t>DATABASE SYSTEMS ENGINEERING AND DISTRIBUTED BACKEND DEVELOPMENT (25CS1302E)</a:t>
            </a:r>
          </a:p>
          <a:p>
            <a:pPr algn="ctr">
              <a:defRPr sz="4400" b="1">
                <a:solidFill>
                  <a:srgbClr val="FFFFFF"/>
                </a:solidFill>
              </a:defRPr>
            </a:pPr>
            <a:br/>
            <a:r>
              <a:t>BOOKVERSE</a:t>
            </a:r>
          </a:p>
          <a:p>
            <a:pPr algn="ctr">
              <a:defRPr sz="1600">
                <a:solidFill>
                  <a:srgbClr val="EBCD82"/>
                </a:solidFill>
              </a:defRPr>
            </a:pPr>
            <a:r>
              <a:t>An Immersive 3D Interactive Digital Library &amp; Distributed Social Reading Platform</a:t>
            </a:r>
            <a:br/>
          </a:p>
          <a:p>
            <a:pPr algn="ctr">
              <a:defRPr sz="1300">
                <a:solidFill>
                  <a:srgbClr val="F1F5F9"/>
                </a:solidFill>
              </a:defRPr>
            </a:pPr>
            <a:r>
              <a:t>TEAM MEMBERS:</a:t>
            </a:r>
            <a:br/>
            <a:r>
              <a:t>• J. SAI SATYAN  (Roll No: 2520030088)</a:t>
            </a:r>
            <a:br/>
            <a:r>
              <a:t>• M. TANMAYEE   (Roll No: 2520030339)</a:t>
            </a:r>
            <a:br/>
            <a:r>
              <a:t>• K. DEVIKA     (Roll No: 2520030329)</a:t>
            </a:r>
            <a:br/>
            <a:br/>
            <a:r>
              <a:t>PROJECT GUIDE: Dr. K. V. Ramanathan  |  SECTION: S-14 (CSE)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A2E"/>
          </a:solidFill>
          <a:ln w="1905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950" b="1">
                <a:solidFill>
                  <a:srgbClr val="EBCD82"/>
                </a:solidFill>
              </a:defRPr>
            </a:pPr>
            <a:r>
              <a:t>25CS1302E · DATABASE SYSTEMS ENGINEERING · PBL 2026-27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Abstract &amp; Problem Formulation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ABSTRACT &amp; VISION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BookVerse re-engineers the digital reading experience by bridging high-performance relational database management with an interactive 3D skeuomorphic user interface.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Key System Architecture:</a:t>
            </a:r>
            <a:br/>
            <a:r>
              <a:t>• Asynchronous REST API Controller via Python FastAPI</a:t>
            </a:r>
            <a:br/>
            <a:r>
              <a:t>• ACID-compliant, 3NF normalized MySQL 8.0 relational database</a:t>
            </a:r>
            <a:br/>
            <a:r>
              <a:t>• React 18 + Vite frontend with 3D open-tome scroll-turn physics</a:t>
            </a:r>
            <a:br/>
            <a:r>
              <a:t>• 100% locally-cached high-resolution cover asset pipeline</a:t>
            </a:r>
          </a:p>
          <a:p>
            <a:br/>
            <a:pPr>
              <a:defRPr sz="1250" b="1">
                <a:solidFill>
                  <a:srgbClr val="22C55E"/>
                </a:solidFill>
              </a:defRPr>
            </a:pPr>
            <a:r>
              <a:t>Outcome: Sub-35ms catalog responses with absolute relational integrity and sensory book immersion.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120640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PROBLEM STATEMENT</a:t>
            </a:r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Monolithic Query Latency:</a:t>
            </a:r>
            <a:br/>
            <a:r>
              <a:t>  Legacy catalog systems suffer from slow SQL queries and blocking multi-table joins during discovery.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Brittle CDN Hotlinking:</a:t>
            </a:r>
            <a:br/>
            <a:r>
              <a:t>  External image links frequently break (HTTP 404), degrading catalog presentation.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Lifeless Data Representation:</a:t>
            </a:r>
            <a:br/>
            <a:r>
              <a:t>  Goodreads and Calibre present literature as clinical spreadsheets with heavy advertisement clutter.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Disconnected Reading Shelves:</a:t>
            </a:r>
            <a:br/>
            <a:r>
              <a:t>  Reading progress lacks real-time interactive visual feedback, reducing reading habit retention.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Target Solution:</a:t>
            </a:r>
            <a:br/>
            <a:r>
              <a:t>  BookVerse provides a distraction-free, aesthetically curated literary portal backed by enterprise database engineering.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A2E"/>
          </a:solidFill>
          <a:ln w="1905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950" b="1">
                <a:solidFill>
                  <a:srgbClr val="EBCD82"/>
                </a:solidFill>
              </a:defRPr>
            </a:pPr>
            <a:r>
              <a:t>25CS1302E · DATABASE SYSTEMS ENGINEERING · PBL 2026-27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Project Objectives &amp;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CORE PROJECT OBJECTIVES</a:t>
            </a:r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✦ Objective 1: Relational Database Engineering:</a:t>
            </a:r>
            <a:br/>
            <a:r>
              <a:t>  Design and normalize a MySQL 8.0 schema to 3NF. Enforce referential constraints via ON DELETE CASCADE and B-Tree indexing on book titles.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✦ Objective 2: High-Throughput REST Gateway:</a:t>
            </a:r>
            <a:br/>
            <a:r>
              <a:t>  Develop asynchronous endpoints using FastAPI and Pydantic v2 schemas to achieve sub-35ms response times across all catalog routes.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✦ Objective 3: 3D Skeuomorphic Experience:</a:t>
            </a:r>
            <a:br/>
            <a:r>
              <a:t>  Implement a dynamic 3D open-tome scroll canvas with forward/backward page flipping, authentic classical manuscripts, and realistic stationery.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✦ Objective 4: Reading Lifecycle Management:</a:t>
            </a:r>
            <a:br/>
            <a:r>
              <a:t>  Provide dynamic shelf status pipelines (Want to Read / Reading / Completed) with interactive range sliders and community critique.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120640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SYSTEM SCOPE &amp; BOUNDARIES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✦ Target End Users:</a:t>
            </a:r>
            <a:br/>
            <a:r>
              <a:t>  Literary scholars, college students, book club members, and avid bibliophiles.</a:t>
            </a:r>
            <a:br/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✦ Core Application Modules:</a:t>
            </a:r>
            <a:br/>
            <a:r>
              <a:t>  • The Grand Library (Catalog &amp; Search)</a:t>
            </a:r>
            <a:br/>
            <a:r>
              <a:t>• Personal Reading Shelf (Multi-tier shelf with sliders)</a:t>
            </a:r>
            <a:br/>
            <a:r>
              <a:t>• Voices &amp; Critique (Review hub with star ratings)</a:t>
            </a:r>
            <a:br/>
            <a:r>
              <a:t>• Rituals &amp; Habit Streaks (Reading goals &amp; velocity)</a:t>
            </a:r>
            <a:br/>
            <a:r>
              <a:t>• AI Literary Oracle (Trope recommendation engine)</a:t>
            </a:r>
            <a:br/>
            <a:r>
              <a:t>• Local Image Pipeline (58 High-res cover assets)</a:t>
            </a:r>
            <a:br/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✦ System Boundaries:</a:t>
            </a:r>
            <a:br/>
            <a:r>
              <a:t>  Self-contained full-stack application; zero external CDN dependencies for cover assets; local session synchronization.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A2E"/>
          </a:solidFill>
          <a:ln w="1905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950" b="1">
                <a:solidFill>
                  <a:srgbClr val="EBCD82"/>
                </a:solidFill>
              </a:defRPr>
            </a:pPr>
            <a:r>
              <a:t>25CS1302E · DATABASE SYSTEMS ENGINEERING · PBL 2026-27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Comparative Analysis: Existing vs Proposed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FEATURE MATRIX &amp; GAP ANALYSIS</a:t>
            </a:r>
          </a:p>
          <a:p>
            <a:pPr>
              <a:defRPr sz="1300" b="1">
                <a:solidFill>
                  <a:srgbClr val="EBCD82"/>
                </a:solidFill>
              </a:defRPr>
            </a:pPr>
            <a:r>
              <a:t>FEATURE MATRIX COMPARISON: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VISUAL IMMERSION:</a:t>
            </a:r>
            <a:br/>
            <a:r>
              <a:t>   Existing: Static 2D tables, ad clutter, sterile presentation</a:t>
            </a:r>
            <a:br/>
            <a:r>
              <a:t>   BookVerse: 3D Open Tome with scroll-turn leaf animations, manuscripts &amp; vector pencils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COVER ASSET DELIVERY:</a:t>
            </a:r>
            <a:br/>
            <a:r>
              <a:t>   Existing: Third-party CDN links prone to HTTP 404 errors</a:t>
            </a:r>
            <a:br/>
            <a:r>
              <a:t>   BookVerse: 100% Locally-Served Cache (/uploads/) with automated fallback generator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BACKEND ARCHITECTURE:</a:t>
            </a:r>
            <a:br/>
            <a:r>
              <a:t>   Existing: Monolithic blocking server-rendered pages</a:t>
            </a:r>
            <a:br/>
            <a:r>
              <a:t>   BookVerse: Asynchronous ASGI (FastAPI + Uvicorn) with sub-35ms JSON endpoints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SHELF PROGRESS TRACKING:</a:t>
            </a:r>
            <a:br/>
            <a:r>
              <a:t>   Existing: Rigid static text counters; manual submit</a:t>
            </a:r>
            <a:br/>
            <a:r>
              <a:t>   BookVerse: Real-time range sliders with instant percentage updates and DB sync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VISUAL CURATION:</a:t>
            </a:r>
            <a:br/>
            <a:r>
              <a:t>   Existing: Generic genre checkboxes</a:t>
            </a:r>
            <a:br/>
            <a:r>
              <a:t>   BookVerse: Pinterest-style Mood Boards with Dark Academia, Gothic &amp; Sci-Fi aesthetics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DATABASE NORMALIZATION:</a:t>
            </a:r>
            <a:br/>
            <a:r>
              <a:t>   Existing: Denormalized legacy tables with join bottlenecks</a:t>
            </a:r>
            <a:br/>
            <a:r>
              <a:t>   BookVerse: Strict 3NF MySQL schema with B-Tree indexes and cascading deletes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A2E"/>
          </a:solidFill>
          <a:ln w="1905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950" b="1">
                <a:solidFill>
                  <a:srgbClr val="EBCD82"/>
                </a:solidFill>
              </a:defRPr>
            </a:pPr>
            <a:r>
              <a:t>25CS1302E · DATABASE SYSTEMS ENGINEERING · PBL 2026-27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Feasibility Analysis &amp;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FEASIBILITY ANALYSIS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Technical Feasibility:</a:t>
            </a:r>
            <a:br/>
            <a:r>
              <a:t>  Built using Python 3.12, FastAPI, SQLAlchemy ORM, MySQL 8.0, and React 18. Supported by robust documentation, active developer communities, and cross-platform compatibility.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Economic Feasibility:</a:t>
            </a:r>
            <a:br/>
            <a:r>
              <a:t>  100% open-source software stack with zero proprietary licensing costs. Operates efficiently on standard commodity developer machines or free-tier cloud containers.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Operational Feasibility:</a:t>
            </a:r>
            <a:br/>
            <a:r>
              <a:t>  Intuitive chapter-based layout; users master shelving, filtering, and critique within 30 seconds. Seamless light and dark parchment modes.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Schedule Feasibility:</a:t>
            </a:r>
            <a:br/>
            <a:r>
              <a:t>  Delivered on schedule across 5 structured sprints: Schema Design -&gt; API Gateway -&gt; Client SPA -&gt; 3D Polish -&gt; System Testing.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120640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TOOLS &amp; TECHNOLOGIES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Client Tier (Frontend):</a:t>
            </a:r>
            <a:br/>
            <a:r>
              <a:t>• React 18 (Single Page Application)</a:t>
            </a:r>
            <a:br/>
            <a:r>
              <a:t>• Vite 8.3 (Next-gen build tool)</a:t>
            </a:r>
            <a:br/>
            <a:r>
              <a:t>• React Router 6 (Declarative routing)</a:t>
            </a:r>
            <a:br/>
            <a:r>
              <a:t>• CSS3 3D Transforms (Canvas leaf flipping)</a:t>
            </a:r>
            <a:br/>
            <a:r>
              <a:t>• Web Fonts: Cinzel, Playfair Display, Caveat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Controller Tier (Backend):</a:t>
            </a:r>
            <a:br/>
            <a:r>
              <a:t>• FastAPI (High-performance Python web framework)</a:t>
            </a:r>
            <a:br/>
            <a:r>
              <a:t>• Uvicorn (Lightning-fast ASGI web server)</a:t>
            </a:r>
            <a:br/>
            <a:r>
              <a:t>• SQLAlchemy 2.0 (Relational ORM)</a:t>
            </a:r>
            <a:br/>
            <a:r>
              <a:t>• Pydantic v2 (Strict data validation)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Data Tier (Persistence):</a:t>
            </a:r>
            <a:br/>
            <a:r>
              <a:t>• MySQL 8.0 Relational Database</a:t>
            </a:r>
            <a:br/>
            <a:r>
              <a:t>• InnoDB Engine (ACID transactions)</a:t>
            </a:r>
            <a:br/>
            <a:r>
              <a:t>• utf8mb4_0900_ai_ci (Unicode support)</a:t>
            </a:r>
            <a:br/>
            <a:r>
              <a:t>• PyMySQL (Database driver &amp; connection pool)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A2E"/>
          </a:solidFill>
          <a:ln w="1905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950" b="1">
                <a:solidFill>
                  <a:srgbClr val="EBCD82"/>
                </a:solidFill>
              </a:defRPr>
            </a:pPr>
            <a:r>
              <a:t>25CS1302E · DATABASE SYSTEMS ENGINEERING · PBL 2026-27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3-Tier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DECOUPLED DISTRIBUTED ARCHITECTURE</a:t>
            </a:r>
          </a:p>
          <a:p>
            <a:pPr>
              <a:defRPr sz="1100">
                <a:solidFill>
                  <a:srgbClr val="EBCD82"/>
                </a:solidFill>
              </a:defRPr>
            </a:pPr>
            <a:r>
              <a:t>TIER 1: CLIENT PRESENTATION LAYER (React 18 + Vite Running on Port 5173)</a:t>
            </a:r>
            <a:br/>
            <a:r>
              <a:t>• 3D Skeuomorphic Tome Engine: Hardware-accelerated CSS3 3D transforms rendering realistic open-book physics.</a:t>
            </a:r>
            <a:br/>
            <a:r>
              <a:t>• State Store (AppContext): Centralized state synchronizing library catalog, shelf entries, and themes.</a:t>
            </a:r>
            <a:br/>
            <a:r>
              <a:t>• Chapter Bookmark Ribbon: Jump-to-chapter smooth scrolling across Prologue and Chapters I through VI.</a:t>
            </a:r>
            <a:br/>
          </a:p>
          <a:p>
            <a:pPr algn="ctr">
              <a:defRPr sz="1150" b="1">
                <a:solidFill>
                  <a:srgbClr val="22C55E"/>
                </a:solidFill>
              </a:defRPr>
            </a:pPr>
            <a:r>
              <a:t>↕ RESTFUL API GATEWAY (HTTP / JSON WITH CORS MIDDLEWARE) ↕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TIER 2: APPLICATION CONTROLLER LAYER (FastAPI + Uvicorn Running on Port 8000)</a:t>
            </a:r>
            <a:br/>
            <a:r>
              <a:t>• Asynchronous Routing: Non-blocking async endpoints (/books, /reviews, /reading-list, /upload).</a:t>
            </a:r>
            <a:br/>
            <a:r>
              <a:t>• Data Validation: Pydantic v2 models enforcing strict typing, bounds checking, and automatic error handling.</a:t>
            </a:r>
            <a:br/>
            <a:r>
              <a:t>• Static Mount (/uploads/): Direct streaming of locally cached high-resolution book cover images.</a:t>
            </a:r>
            <a:br/>
            <a:r>
              <a:t>• Connection Pooling: SQLAlchemy session manager (SessionLocal) recycling database connections.</a:t>
            </a:r>
            <a:br/>
          </a:p>
          <a:p>
            <a:pPr algn="ctr">
              <a:defRPr sz="1150" b="1">
                <a:solidFill>
                  <a:srgbClr val="22C55E"/>
                </a:solidFill>
              </a:defRPr>
            </a:pPr>
            <a:r>
              <a:t>↕ PYMYSQL DATABASE PROTOCOL (TCP / PREPARED STATEMENTS) ↕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TIER 3: PERSISTENCE STORAGE LAYER (MySQL 8.0 Running on Port 3306)</a:t>
            </a:r>
            <a:br/>
            <a:r>
              <a:t>• InnoDB Relational Store: Full ACID transaction compliance with row-level locking.</a:t>
            </a:r>
            <a:br/>
            <a:r>
              <a:t>• Local Cover Storage: Disk-backed image cache with 58 verified publisher scans and bespoke folio designs.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A2E"/>
          </a:solidFill>
          <a:ln w="1905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950" b="1">
                <a:solidFill>
                  <a:srgbClr val="EBCD82"/>
                </a:solidFill>
              </a:defRPr>
            </a:pPr>
            <a:r>
              <a:t>25CS1302E · DATABASE SYSTEMS ENGINEERING · PBL 2026-27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Database Design &amp; Relational ER Schema (3NF)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ENTITIES, CARDINALITIES &amp; RELATIONAL SCHEMA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TABLE: users:</a:t>
            </a:r>
            <a:br/>
            <a:r>
              <a:t>PK: user_id VARCHAR(36) [UUID]</a:t>
            </a:r>
            <a:br/>
            <a:r>
              <a:t>Columns: username VARCHAR(50) [UNIQUE], email VARCHAR(255) [UNIQUE], password_hash VARCHAR(255), created_at DATETIME</a:t>
            </a:r>
            <a:br/>
            <a:r>
              <a:t>Cardinality: 1:M with reviews, 1:M with reading_list</a:t>
            </a:r>
            <a:br/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TABLE: books:</a:t>
            </a:r>
            <a:br/>
            <a:r>
              <a:t>PK: book_id VARCHAR(36) [UUID]</a:t>
            </a:r>
            <a:br/>
            <a:r>
              <a:t>Columns: title VARCHAR(255) [INDEXED], author VARCHAR(255), isbn VARCHAR(20) [UNIQUE], published_year INT, description TEXT, cover_image_url VARCHAR(255), price DECIMAL(10,2)</a:t>
            </a:r>
            <a:br/>
            <a:r>
              <a:t>Cardinality: 1:M with reviews, 1:M with reading_list</a:t>
            </a:r>
            <a:br/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TABLE: reviews:</a:t>
            </a:r>
            <a:br/>
            <a:r>
              <a:t>PK: review_id VARCHAR(36) [UUID]</a:t>
            </a:r>
            <a:br/>
            <a:r>
              <a:t>Foreign Keys: user_id FK -&gt; users(user_id) [ON DELETE CASCADE], book_id FK -&gt; books(book_id) [ON DELETE CASCADE]</a:t>
            </a:r>
            <a:br/>
            <a:r>
              <a:t>Columns: rating INT CHECK (1 &lt;= rating &lt;= 5), review_text TEXT, created_at DATETIME</a:t>
            </a:r>
            <a:br/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TABLE: reading_list:</a:t>
            </a:r>
            <a:br/>
            <a:r>
              <a:t>PK: list_id VARCHAR(36) [UUID]</a:t>
            </a:r>
            <a:br/>
            <a:r>
              <a:t>Foreign Keys: user_id FK -&gt; users(user_id) [ON DELETE CASCADE], book_id FK -&gt; books(book_id) [ON DELETE CASCADE]</a:t>
            </a:r>
            <a:br/>
            <a:r>
              <a:t>Columns: status ENUM('want_to_read', 'reading', 'completed'), added_at DATETIME</a:t>
            </a:r>
            <a:br/>
          </a:p>
          <a:p>
            <a:pPr>
              <a:defRPr sz="1050">
                <a:solidFill>
                  <a:srgbClr val="EBCD82"/>
                </a:solidFill>
              </a:defRPr>
            </a:pPr>
            <a:r>
              <a:t>Relational Normalization &amp; Optimization Summary:</a:t>
            </a:r>
            <a:br/>
            <a:r>
              <a:t>• 3NF Compliance: Every non-key attribute is non-transitively dependent on the primary key.</a:t>
            </a:r>
            <a:br/>
            <a:r>
              <a:t>• Referential Integrity: ON DELETE CASCADE prevents orphaned reviews or reading shelf entries.</a:t>
            </a:r>
            <a:br/>
            <a:r>
              <a:t>• Indexing Strategy: B-Tree index on books.title enables sub-millisecond prefix search.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A2E"/>
          </a:solidFill>
          <a:ln w="1905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950" b="1">
                <a:solidFill>
                  <a:srgbClr val="EBCD82"/>
                </a:solidFill>
              </a:defRPr>
            </a:pPr>
            <a:r>
              <a:t>25CS1302E · DATABASE SYSTEMS ENGINEERING · PBL 2026-27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Key Functional Modules &amp; 3D Skeuomorphic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CORE WEB MODULES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The Grand Library (Ch. I):</a:t>
            </a:r>
            <a:br/>
            <a:r>
              <a:t>  Dynamic book catalog of 58 master volumes with instant debounced search, genre chips, and live pagination.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Reading Shelf (Ch. II):</a:t>
            </a:r>
            <a:br/>
            <a:r>
              <a:t>  Interactive shelving with three status buckets (Want to Read, Reading, Completed) and real-time page sliders.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Voices &amp; Critique (Ch. III):</a:t>
            </a:r>
            <a:br/>
            <a:r>
              <a:t>  Community critique forum with 5-star rating aggregation, written reviews, and reader discussion threads.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Rituals &amp; Streaks (Ch. IV):</a:t>
            </a:r>
            <a:br/>
            <a:r>
              <a:t>  Annual reading challenge trackers, daily habit streak logs, and page-count velocity metrics.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AI Literary Oracle (Ch. V):</a:t>
            </a:r>
            <a:br/>
            <a:r>
              <a:t>  Intelligent wizard providing personalized literary recommendations based on tropes and mood.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120640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3D SKEUOMORPHIC CANVAS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Open Tome Canvas:</a:t>
            </a:r>
            <a:br/>
            <a:r>
              <a:t>  CSS3 3D preserved perspective (2000px) creating an authentic parchment tome in the background.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Scroll-Turn Leaf Physics:</a:t>
            </a:r>
            <a:br/>
            <a:r>
              <a:t>  Dynamic flipping page leaf with bi-directional 3D keyframe rotation triggered as user scrolls.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Classical Manuscripts:</a:t>
            </a:r>
            <a:br/>
            <a:r>
              <a:t>  Authentic classical literature excerpts (Homer, Marcus Aurelius, Dante, Dostoevsky, Kafka, Joyce) with gold drop caps and reader pencil notes.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Realistic Stationery:</a:t>
            </a:r>
            <a:br/>
            <a:r>
              <a:t>  SVG vector models of Scholar's No. 2 HB pencil, drafting pencil, cedar shavings, and graphite tips with multi-layer elevation drop shadows.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Local Cover Scans:</a:t>
            </a:r>
            <a:br/>
            <a:r>
              <a:t>  58/58 books backed by local high-resolution cover files in /uploads/ with zero CDN latency.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A2E"/>
          </a:solidFill>
          <a:ln w="1905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950" b="1">
                <a:solidFill>
                  <a:srgbClr val="EBCD82"/>
                </a:solidFill>
              </a:defRPr>
            </a:pPr>
            <a:r>
              <a:t>25CS1302E · DATABASE SYSTEMS ENGINEERING · PBL 2026-27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Experimental Results &amp; Quality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VERIFICATION &amp; BENCHMARKING RESULTS</a:t>
            </a:r>
          </a:p>
          <a:p>
            <a:pPr>
              <a:defRPr sz="1300" b="1">
                <a:solidFill>
                  <a:srgbClr val="EBCD82"/>
                </a:solidFill>
              </a:defRPr>
            </a:pPr>
            <a:r>
              <a:t>SYSTEM TEST &amp; PERFORMANCE BENCHMARKS: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API RESPONSE LATENCY:  &lt; 35 ms  [PASSED]</a:t>
            </a:r>
            <a:br/>
            <a:r>
              <a:t>   Evaluation: Benchmarked across all CRUD routes under concurrent requests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DATABASE CATALOG SCALE:  58 Master Volumes  [PASSED]</a:t>
            </a:r>
            <a:br/>
            <a:r>
              <a:t>   Evaluation: All 48 classics requested + 10 contemporary titles successfully seeded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COVER ASSET AVAILABILITY:  100% Local (58/58)  [PASSED]</a:t>
            </a:r>
            <a:br/>
            <a:r>
              <a:t>   Evaluation: Zero broken links; verified via automated HTTP 200 checks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SQL INJECTION DEFENSE:  0 Vulnerabilities  [PASSED]</a:t>
            </a:r>
            <a:br/>
            <a:r>
              <a:t>   Evaluation: 100% of queries parameterized via SQLAlchemy ORM; raw SQL eliminated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REFERENTIAL CASCADES:  Zero Orphan Rows  [PASSED]</a:t>
            </a:r>
            <a:br/>
            <a:r>
              <a:t>   Evaluation: Cascade verification: deleting a book cleanly removes reviews &amp; shelf items</a:t>
            </a:r>
            <a:br/>
          </a:p>
          <a:p>
            <a:pPr>
              <a:defRPr sz="1150">
                <a:solidFill>
                  <a:srgbClr val="F1F5F9"/>
                </a:solidFill>
              </a:defRPr>
            </a:pPr>
            <a:r>
              <a:t>• RENDERING FRAME RATE:  60 FPS Smooth  [PASSED]</a:t>
            </a:r>
            <a:br/>
            <a:r>
              <a:t>   Evaluation: GPU-accelerated CSS3 3D page flip animation maintains 60 FPS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A2E"/>
          </a:solidFill>
          <a:ln w="1905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950" b="1">
                <a:solidFill>
                  <a:srgbClr val="EBCD82"/>
                </a:solidFill>
              </a:defRPr>
            </a:pPr>
            <a:r>
              <a:t>25CS1302E · DATABASE SYSTEMS ENGINEERING · PBL 2026-27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Conclusion &amp; Future Research Directions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CONCLUSION &amp; ACHIEVEMENTS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BookVerse demonstrates the practical synthesis of academic Database Systems Engineering and modern distributed full-stack architecture.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Key Accomplishments:</a:t>
            </a:r>
            <a:br/>
            <a:r>
              <a:t>• Delivered an ACID-compliant MySQL 8.0 database normalized to 3NF.</a:t>
            </a:r>
            <a:br/>
            <a:r>
              <a:t>• Built an asynchronous FastAPI REST API operating at &lt;35ms latency.</a:t>
            </a:r>
            <a:br/>
            <a:r>
              <a:t>• Formed an immersive 3D paper scroll environment that outpaces existing commercial platforms.</a:t>
            </a:r>
            <a:br/>
            <a:r>
              <a:t>• Maintained 100% asset reliability through self-contained local caching.</a:t>
            </a:r>
          </a:p>
          <a:p>
            <a:br/>
            <a:pPr>
              <a:defRPr sz="1200" b="1">
                <a:solidFill>
                  <a:srgbClr val="22C55E"/>
                </a:solidFill>
              </a:defRPr>
            </a:pPr>
            <a:r>
              <a:t>The project successfully proves how rigorous database foundations directly empower engaging consumer web applications.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120640" cy="50292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FUTURE SCOPE &amp; REFERENCES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WebSocket Co-Reading Rooms:</a:t>
            </a:r>
            <a:br/>
            <a:r>
              <a:t>  Real-time synchronized reading rooms with shared margin annotations, highlights, and live chat.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Vector Search (RAG / AI):</a:t>
            </a:r>
            <a:br/>
            <a:r>
              <a:t>  Semantic trope search powered by vector embeddings (pgvector/FAISS) matching natural language reading moods.</a:t>
            </a:r>
            <a:br/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✦ Progressive Web App (PWA):</a:t>
            </a:r>
            <a:br/>
            <a:r>
              <a:t>  IndexedDB client caching allowing reading progress tracking in offline environments.</a:t>
            </a:r>
            <a:br/>
          </a:p>
          <a:p>
            <a:pPr>
              <a:defRPr sz="950">
                <a:solidFill>
                  <a:srgbClr val="EBCD82"/>
                </a:solidFill>
              </a:defRPr>
            </a:pPr>
            <a:r>
              <a:t>Academic References:</a:t>
            </a:r>
            <a:br/>
            <a:r>
              <a:t>[1] R. Elmasri &amp; S. Navathe, Fundamentals of Database Systems, 7th ed., 2016.</a:t>
            </a:r>
            <a:br/>
            <a:r>
              <a:t>[2] S. Ramírez, FastAPI Modern Python Web APIs, Packt, 2023.</a:t>
            </a:r>
            <a:br/>
            <a:r>
              <a:t>[3] Oracle, MySQL 8.0 Reference Manual: InnoDB Engine Architecture, 2026.</a:t>
            </a:r>
            <a:br/>
            <a:br/>
            <a:r>
              <a:t>GitHub Repository: https://github.com/KLH-Bachupally-CSE/BookVerse-PBL-2026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